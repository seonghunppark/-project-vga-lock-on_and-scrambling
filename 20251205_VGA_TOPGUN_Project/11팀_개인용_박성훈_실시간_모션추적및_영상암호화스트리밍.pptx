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8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8288000" cy="10287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각진펜 Bold" panose="020B0600000101010101" charset="-127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Gotham Bold" panose="020B0600000101010101" charset="0"/>
      <p:regular r:id="rId38"/>
    </p:embeddedFont>
    <p:embeddedFont>
      <p:font typeface="맑은 고딕" panose="020B0503020000020004" pitchFamily="50" charset="-127"/>
      <p:regular r:id="rId39"/>
      <p:bold r:id="rId40"/>
    </p:embeddedFont>
    <p:embeddedFont>
      <p:font typeface="각진펜" panose="020B0600000101010101" charset="-127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622" autoAdjust="0"/>
  </p:normalViewPr>
  <p:slideViewPr>
    <p:cSldViewPr>
      <p:cViewPr varScale="1">
        <p:scale>
          <a:sx n="59" d="100"/>
          <a:sy n="59" d="100"/>
        </p:scale>
        <p:origin x="126" y="15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5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5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5.sv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3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7" name="TextBox 7"/>
          <p:cNvSpPr txBox="1"/>
          <p:nvPr/>
        </p:nvSpPr>
        <p:spPr>
          <a:xfrm>
            <a:off x="12556967" y="8270810"/>
            <a:ext cx="8517301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발표자 : 박성훈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팀원 : 김승훈, 이상준, 조민준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14000" y="2855187"/>
            <a:ext cx="7260001" cy="36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 b="1" spc="-48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SYSTEM VERILOG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2591" y="3207612"/>
            <a:ext cx="12862818" cy="38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1" spc="-199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VGA PROJECT</a:t>
            </a:r>
          </a:p>
          <a:p>
            <a:pPr algn="ctr">
              <a:lnSpc>
                <a:spcPts val="6000"/>
              </a:lnSpc>
            </a:pPr>
            <a:r>
              <a:rPr lang="en-US" sz="5000" b="1" spc="-100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FPGA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이용한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실시간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동적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표적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추적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및 </a:t>
            </a:r>
            <a:r>
              <a:rPr lang="en-US" sz="5000" b="1" spc="-100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LFSR </a:t>
            </a:r>
          </a:p>
          <a:p>
            <a:pPr algn="ctr">
              <a:lnSpc>
                <a:spcPts val="6000"/>
              </a:lnSpc>
            </a:pP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기반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보안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영상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통신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시스템</a:t>
            </a:r>
            <a:r>
              <a:rPr lang="en-US" sz="5000" b="1" spc="-100" dirty="0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 </a:t>
            </a:r>
            <a:r>
              <a:rPr lang="en-US" sz="5000" b="1" spc="-100" dirty="0" err="1">
                <a:solidFill>
                  <a:srgbClr val="000000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구현</a:t>
            </a:r>
            <a:endParaRPr lang="en-US" sz="5000" b="1" spc="-100" dirty="0">
              <a:solidFill>
                <a:srgbClr val="000000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  <a:p>
            <a:pPr algn="ctr">
              <a:lnSpc>
                <a:spcPts val="6599"/>
              </a:lnSpc>
              <a:spcBef>
                <a:spcPct val="0"/>
              </a:spcBef>
            </a:pPr>
            <a:endParaRPr lang="en-US" sz="5000" b="1" spc="-100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56967" y="7867585"/>
            <a:ext cx="851730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발표일 : 2025.12.05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8251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8901" y="4131665"/>
            <a:ext cx="3674124" cy="3895327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69854" y="3300031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 dirty="0" err="1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박성훈</a:t>
            </a:r>
            <a:endParaRPr lang="en-US" sz="3500" b="1" spc="-70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05034" y="2674518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팀장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ko-KR" altLang="en-US" sz="5000" b="1" spc="-100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수행 내용</a:t>
            </a:r>
            <a:endParaRPr lang="en-US" sz="5000" b="1" spc="-100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endParaRPr lang="en-US" sz="3500" b="1" spc="-70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999254" y="2577321"/>
            <a:ext cx="11201400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 lang="en-US" dirty="0" smtClean="0"/>
          </a:p>
          <a:p>
            <a:pPr>
              <a:lnSpc>
                <a:spcPts val="3220"/>
              </a:lnSpc>
            </a:pPr>
            <a:r>
              <a:rPr lang="en-US" altLang="ko-KR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Hardware Logic </a:t>
            </a:r>
            <a:r>
              <a:rPr lang="en-US" altLang="ko-KR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Design</a:t>
            </a:r>
            <a:endParaRPr sz="2500" dirty="0"/>
          </a:p>
          <a:p>
            <a:pPr marL="248286" lvl="1">
              <a:lnSpc>
                <a:spcPts val="3220"/>
              </a:lnSpc>
            </a:pPr>
            <a:r>
              <a:rPr lang="en-US" altLang="ko-KR" sz="2000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•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동적 표적을 추적하여 디스플레이에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Lock on Marker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시각화 모듈 설계</a:t>
            </a:r>
            <a:endParaRPr lang="en-US" sz="2000" b="1" dirty="0" smtClean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248286" lvl="1">
              <a:lnSpc>
                <a:spcPts val="3220"/>
              </a:lnSpc>
            </a:pP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• </a:t>
            </a:r>
            <a:r>
              <a:rPr lang="ko-KR" altLang="en-US" sz="2000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버튼을 통해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Bullet </a:t>
            </a:r>
            <a:r>
              <a:rPr lang="en-US" altLang="ko-KR" sz="2000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Hole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Effect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및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최대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7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발의 타격 좌표를 저장하기 위해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Register Array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모듈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</a:t>
            </a:r>
            <a:endParaRPr lang="en-US" sz="2300" b="1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30" name="TextBox 17"/>
          <p:cNvSpPr txBox="1"/>
          <p:nvPr/>
        </p:nvSpPr>
        <p:spPr>
          <a:xfrm>
            <a:off x="4964038" y="2037779"/>
            <a:ext cx="280230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3000" b="1" spc="-100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[Key Contributions]</a:t>
            </a:r>
            <a:endParaRPr lang="en-US" sz="3000" b="1" spc="-100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23"/>
              <p:cNvSpPr txBox="1"/>
              <p:nvPr/>
            </p:nvSpPr>
            <p:spPr>
              <a:xfrm>
                <a:off x="5016164" y="3916392"/>
                <a:ext cx="11201400" cy="20518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3220"/>
                  </a:lnSpc>
                </a:pPr>
                <a:endParaRPr lang="ko-KR" altLang="en-US" dirty="0" smtClean="0"/>
              </a:p>
              <a:p>
                <a:pPr>
                  <a:lnSpc>
                    <a:spcPts val="3220"/>
                  </a:lnSpc>
                </a:pPr>
                <a:r>
                  <a:rPr lang="en-US" altLang="ko-KR" sz="2500" b="1" dirty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2</a:t>
                </a:r>
                <a:r>
                  <a:rPr lang="en-US" altLang="ko-KR" sz="25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. Signal Integrity</a:t>
                </a:r>
                <a:endParaRPr lang="ko-KR" altLang="en-US" sz="2500" dirty="0"/>
              </a:p>
              <a:p>
                <a:pPr marL="248286" lvl="1">
                  <a:lnSpc>
                    <a:spcPts val="3220"/>
                  </a:lnSpc>
                </a:pP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•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비동기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신호가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클럭 </a:t>
                </a:r>
                <a:r>
                  <a:rPr lang="ko-KR" altLang="en-US" sz="2000" b="1" dirty="0" err="1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상승엣지에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 </a:t>
                </a: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Falling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했을 때 </a:t>
                </a:r>
                <a:r>
                  <a:rPr lang="en-US" altLang="ko-KR" sz="2000" b="1" dirty="0" err="1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Metastability</a:t>
                </a: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(CDC)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문제 분석</a:t>
                </a:r>
              </a:p>
              <a:p>
                <a:pPr marL="248286" lvl="1">
                  <a:lnSpc>
                    <a:spcPts val="3220"/>
                  </a:lnSpc>
                </a:pP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• </a:t>
                </a: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Recovery Time Violation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문제 </a:t>
                </a: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2-Stage </a:t>
                </a: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Flip-Flop </a:t>
                </a: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Synchronizer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적용하여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신호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안정성 확보</a:t>
                </a:r>
              </a:p>
              <a:p>
                <a:pPr marL="248286" lvl="1">
                  <a:lnSpc>
                    <a:spcPts val="3220"/>
                  </a:lnSpc>
                </a:pPr>
                <a:r>
                  <a:rPr lang="en-US" altLang="ko-KR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• Reset 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신호의 동기화 </a:t>
                </a:r>
                <a:r>
                  <a:rPr lang="ko-KR" altLang="en-US" sz="2000" b="1" dirty="0" err="1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로직을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 통해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각진펜 Bold"/>
                            <a:cs typeface="각진펜 Bold"/>
                            <a:sym typeface="각진펜 Bold"/>
                          </a:rPr>
                        </m:ctrlPr>
                      </m:sSupPr>
                      <m:e>
                        <m:r>
                          <a:rPr lang="ko-KR" alt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각진펜 Bold"/>
                            <a:cs typeface="각진펜 Bold"/>
                            <a:sym typeface="각진펜 Bold"/>
                          </a:rPr>
                          <m:t>𝟐</m:t>
                        </m:r>
                      </m:e>
                      <m:sup>
                        <m:r>
                          <a:rPr lang="en-US" altLang="ko-KR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각진펜 Bold"/>
                            <a:cs typeface="각진펜 Bold"/>
                            <a:sym typeface="각진펜 Bold"/>
                          </a:rPr>
                          <m:t>𝟏𝟐</m:t>
                        </m:r>
                      </m:sup>
                    </m:sSup>
                  </m:oMath>
                </a14:m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개의 </a:t>
                </a:r>
                <a:r>
                  <a:rPr lang="ko-KR" altLang="en-US" sz="2000" b="1" dirty="0" err="1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암호키</a:t>
                </a:r>
                <a:r>
                  <a:rPr lang="ko-KR" altLang="en-US" sz="2000" b="1" dirty="0" smtClean="0">
                    <a:solidFill>
                      <a:srgbClr val="000000"/>
                    </a:solidFill>
                    <a:latin typeface="각진펜 Bold"/>
                    <a:ea typeface="각진펜 Bold"/>
                    <a:cs typeface="각진펜 Bold"/>
                    <a:sym typeface="각진펜 Bold"/>
                  </a:rPr>
                  <a:t> 타이밍 불일치 문제 해결</a:t>
                </a:r>
                <a:endParaRPr lang="en-US" sz="2000" b="1" dirty="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endParaRPr>
              </a:p>
            </p:txBody>
          </p:sp>
        </mc:Choice>
        <mc:Fallback>
          <p:sp>
            <p:nvSpPr>
              <p:cNvPr id="31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164" y="3916392"/>
                <a:ext cx="11201400" cy="2051844"/>
              </a:xfrm>
              <a:prstGeom prst="rect">
                <a:avLst/>
              </a:prstGeom>
              <a:blipFill>
                <a:blip r:embed="rId5"/>
                <a:stretch>
                  <a:fillRect l="-1742" b="-5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23"/>
          <p:cNvSpPr txBox="1"/>
          <p:nvPr/>
        </p:nvSpPr>
        <p:spPr>
          <a:xfrm>
            <a:off x="5016164" y="5796382"/>
            <a:ext cx="11201400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 lang="ko-KR" altLang="en-US" dirty="0" smtClean="0"/>
          </a:p>
          <a:p>
            <a:pPr>
              <a:lnSpc>
                <a:spcPts val="3220"/>
              </a:lnSpc>
            </a:pPr>
            <a:r>
              <a:rPr lang="en-US" altLang="ko-KR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System Integration (Top Module)</a:t>
            </a:r>
          </a:p>
          <a:p>
            <a:pPr>
              <a:lnSpc>
                <a:spcPts val="3220"/>
              </a:lnSpc>
            </a:pP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•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개별 모듈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(Camera Controller, Buffer, Core, Scrambling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등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)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을 통합하는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Top Module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</a:t>
            </a:r>
            <a:endParaRPr lang="en-US" altLang="ko-KR" sz="2000" b="1" dirty="0" smtClean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>
              <a:lnSpc>
                <a:spcPts val="3220"/>
              </a:lnSpc>
            </a:pP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•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각 모듈 간 입출력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포트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,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전체 데이터 패스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(Data Path)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연결 및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Pin Mapping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제약사항 해결</a:t>
            </a:r>
            <a:endParaRPr lang="en-US" sz="2000" b="1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33" name="TextBox 23"/>
          <p:cNvSpPr txBox="1"/>
          <p:nvPr/>
        </p:nvSpPr>
        <p:spPr>
          <a:xfrm>
            <a:off x="5016164" y="7255919"/>
            <a:ext cx="11201400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 lang="ko-KR" altLang="en-US" dirty="0" smtClean="0"/>
          </a:p>
          <a:p>
            <a:pPr>
              <a:lnSpc>
                <a:spcPts val="3220"/>
              </a:lnSpc>
            </a:pPr>
            <a:r>
              <a:rPr lang="en-US" altLang="ko-KR" sz="2500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4</a:t>
            </a:r>
            <a:r>
              <a:rPr lang="en-US" altLang="ko-KR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. Engineering </a:t>
            </a:r>
            <a:r>
              <a:rPr lang="en-US" altLang="ko-KR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Leadership (</a:t>
            </a:r>
            <a:r>
              <a:rPr lang="ko-KR" altLang="en-US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팀장 역할</a:t>
            </a:r>
            <a:r>
              <a:rPr lang="en-US" altLang="ko-KR" sz="25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) </a:t>
            </a:r>
            <a:endParaRPr lang="en-US" altLang="ko-KR" sz="2500" b="1" dirty="0" smtClean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>
              <a:lnSpc>
                <a:spcPts val="3220"/>
              </a:lnSpc>
            </a:pP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• </a:t>
            </a:r>
            <a:r>
              <a:rPr lang="en-US" altLang="ko-KR" sz="2000" b="1" dirty="0" err="1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/GitHub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개발 환경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구축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: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코드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버전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관리를 위한 </a:t>
            </a:r>
            <a:r>
              <a:rPr lang="en-US" altLang="ko-KR" sz="2000" b="1" dirty="0" err="1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</a:t>
            </a:r>
            <a:r>
              <a:rPr lang="ko-KR" altLang="en-US" sz="2000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프로세스 도입 및 가이드라인 배포</a:t>
            </a:r>
            <a:endParaRPr lang="en-US" altLang="ko-KR" sz="2000" b="1" dirty="0" smtClean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>
              <a:lnSpc>
                <a:spcPts val="3220"/>
              </a:lnSpc>
            </a:pP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• 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Project Management :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전체 프로젝트 </a:t>
            </a:r>
            <a:r>
              <a:rPr lang="ko-KR" altLang="en-US" sz="2000" b="1" dirty="0" err="1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마일스톤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설정</a:t>
            </a:r>
            <a:r>
              <a:rPr lang="en-US" altLang="ko-KR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,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일정 조율 및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역할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분담 </a:t>
            </a:r>
            <a:r>
              <a:rPr lang="ko-KR" altLang="en-US" sz="2000" b="1" dirty="0" smtClean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최적화 주도</a:t>
            </a:r>
            <a:endParaRPr lang="en-US" altLang="ko-KR" sz="2000" b="1" dirty="0" smtClean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287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72470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9099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 dirty="0" err="1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박성훈</a:t>
            </a:r>
            <a:endParaRPr lang="en-US" sz="3500" b="1" spc="-70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84096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팀장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62656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982304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503120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734642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김승훈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47724" y="29099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조민준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3897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이상준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6871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64255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80425" y="5776117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담당 역할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5265" y="6458742"/>
            <a:ext cx="2999616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Top Integration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Display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87750" y="6458742"/>
            <a:ext cx="336594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Dual Frame Buffer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Compare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673337" y="6458742"/>
            <a:ext cx="3475593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Display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 설계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822937" y="6515892"/>
            <a:ext cx="3365944" cy="198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SCCB 구현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동작 영상 촬영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PPT 작성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5868357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185970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434810" y="3645672"/>
            <a:ext cx="1804730" cy="1962959"/>
          </a:xfrm>
          <a:custGeom>
            <a:avLst/>
            <a:gdLst/>
            <a:ahLst/>
            <a:cxnLst/>
            <a:rect l="l" t="t" r="r" b="b"/>
            <a:pathLst>
              <a:path w="1804730" h="1962959">
                <a:moveTo>
                  <a:pt x="0" y="0"/>
                </a:moveTo>
                <a:lnTo>
                  <a:pt x="1804730" y="0"/>
                </a:lnTo>
                <a:lnTo>
                  <a:pt x="1804730" y="1962959"/>
                </a:lnTo>
                <a:lnTo>
                  <a:pt x="0" y="1962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78629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287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12743" y="41004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68140" y="3570684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8140" y="6038322"/>
            <a:ext cx="1381478" cy="55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3261" y="3622249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4270" y="6011906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34620" y="3630298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34620" y="6060293"/>
            <a:ext cx="1381478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31332" y="4172512"/>
            <a:ext cx="482735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System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79224" y="4136991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81100" y="6538448"/>
            <a:ext cx="408851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Conclusion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b="1" spc="-7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Contents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99741" y="6566261"/>
            <a:ext cx="408851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b="1" spc="-7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14620" y="6582898"/>
            <a:ext cx="408851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동작영상</a:t>
            </a:r>
          </a:p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endParaRPr lang="en-US" sz="3500" b="1" spc="-7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5350" y="3917951"/>
            <a:ext cx="851730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01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4853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91573" y="2585999"/>
            <a:ext cx="1681451" cy="43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미래는?</a:t>
            </a:r>
          </a:p>
        </p:txBody>
      </p:sp>
      <p:sp>
        <p:nvSpPr>
          <p:cNvPr id="12" name="Freeform 12"/>
          <p:cNvSpPr/>
          <p:nvPr/>
        </p:nvSpPr>
        <p:spPr>
          <a:xfrm>
            <a:off x="1889296" y="4650813"/>
            <a:ext cx="8224814" cy="4492805"/>
          </a:xfrm>
          <a:custGeom>
            <a:avLst/>
            <a:gdLst/>
            <a:ahLst/>
            <a:cxnLst/>
            <a:rect l="l" t="t" r="r" b="b"/>
            <a:pathLst>
              <a:path w="8224814" h="4492805">
                <a:moveTo>
                  <a:pt x="0" y="0"/>
                </a:moveTo>
                <a:lnTo>
                  <a:pt x="8224815" y="0"/>
                </a:lnTo>
                <a:lnTo>
                  <a:pt x="8224815" y="4492804"/>
                </a:lnTo>
                <a:lnTo>
                  <a:pt x="0" y="4492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993497" y="2786659"/>
            <a:ext cx="5284221" cy="6356958"/>
          </a:xfrm>
          <a:custGeom>
            <a:avLst/>
            <a:gdLst/>
            <a:ahLst/>
            <a:cxnLst/>
            <a:rect l="l" t="t" r="r" b="b"/>
            <a:pathLst>
              <a:path w="5284221" h="6356958">
                <a:moveTo>
                  <a:pt x="0" y="0"/>
                </a:moveTo>
                <a:lnTo>
                  <a:pt x="5284222" y="0"/>
                </a:lnTo>
                <a:lnTo>
                  <a:pt x="528422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37343" y="3167026"/>
            <a:ext cx="4711718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UAM(Urban Air Mobility)</a:t>
            </a:r>
          </a:p>
          <a:p>
            <a:pPr marL="561336" lvl="1" indent="-280668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Military Drone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57342" y="2352917"/>
            <a:ext cx="6352345" cy="476250"/>
            <a:chOff x="0" y="0"/>
            <a:chExt cx="8469794" cy="635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661458" y="65828"/>
              <a:ext cx="7808335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정찰 드론이 지휘소로 영상데이터 송신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37189" y="254853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57342" y="3350756"/>
            <a:ext cx="9212652" cy="5032411"/>
          </a:xfrm>
          <a:custGeom>
            <a:avLst/>
            <a:gdLst/>
            <a:ahLst/>
            <a:cxnLst/>
            <a:rect l="l" t="t" r="r" b="b"/>
            <a:pathLst>
              <a:path w="9212652" h="5032411">
                <a:moveTo>
                  <a:pt x="0" y="0"/>
                </a:moveTo>
                <a:lnTo>
                  <a:pt x="9212652" y="0"/>
                </a:lnTo>
                <a:lnTo>
                  <a:pt x="9212652" y="5032412"/>
                </a:lnTo>
                <a:lnTo>
                  <a:pt x="0" y="5032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33283" y="2585999"/>
            <a:ext cx="2324877" cy="43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Check Point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37189" y="3303131"/>
            <a:ext cx="5906949" cy="5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움직이는 물체를 어떻게 포착할 것인가?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드론이 찍은 영상은 그대로 송신해도 되는가?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암호화를 한다면 받는 곳에서는 복호화를 어떻게 해야하는가?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Introduction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89296" y="2548534"/>
            <a:ext cx="2835104" cy="511036"/>
            <a:chOff x="0" y="0"/>
            <a:chExt cx="3780138" cy="681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936369" y="65828"/>
              <a:ext cx="284376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프로젝트</a:t>
              </a:r>
              <a:r>
                <a:rPr lang="en-US" sz="2599" b="1" dirty="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</a:t>
              </a: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목표</a:t>
              </a:r>
              <a:endParaRPr lang="en-US" sz="2599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889296" y="4407299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91573" y="4444764"/>
            <a:ext cx="1492300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핵심 기능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4835924"/>
            <a:ext cx="13161834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실시간 영상 수집 및 모션 감지 (Real-time Motion Detection)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동적 표적 추적 알고리즘 (Dynamic Target Tracking)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 기반 하드웨어 암호화 (Hardware Encryption Via LFSR)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동기화된 복호화 및 원격 모니터링 (Syncronized Decryption &amp; Monitoring)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표적지 탄환 발사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89296" y="3191750"/>
            <a:ext cx="1339777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FPGA 하드웨어 가속을 이용한 실시간 동적 표적 추적 및 LFSR 기반 보안 영상 통신 시스템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358278" y="306731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3" y="0"/>
                </a:lnTo>
                <a:lnTo>
                  <a:pt x="49609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구현환경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65844" y="3050611"/>
            <a:ext cx="3880478" cy="4888068"/>
            <a:chOff x="0" y="0"/>
            <a:chExt cx="5173970" cy="6517424"/>
          </a:xfrm>
        </p:grpSpPr>
        <p:sp>
          <p:nvSpPr>
            <p:cNvPr id="13" name="Freeform 13"/>
            <p:cNvSpPr/>
            <p:nvPr/>
          </p:nvSpPr>
          <p:spPr>
            <a:xfrm>
              <a:off x="734588" y="35983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9" y="0"/>
                  </a:lnTo>
                  <a:lnTo>
                    <a:pt x="661459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359851" y="1019958"/>
              <a:ext cx="2193477" cy="2193477"/>
            </a:xfrm>
            <a:custGeom>
              <a:avLst/>
              <a:gdLst/>
              <a:ahLst/>
              <a:cxnLst/>
              <a:rect l="l" t="t" r="r" b="b"/>
              <a:pathLst>
                <a:path w="2193477" h="2193477">
                  <a:moveTo>
                    <a:pt x="0" y="0"/>
                  </a:moveTo>
                  <a:lnTo>
                    <a:pt x="2193477" y="0"/>
                  </a:lnTo>
                  <a:lnTo>
                    <a:pt x="2193477" y="2193477"/>
                  </a:lnTo>
                  <a:lnTo>
                    <a:pt x="0" y="2193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646713" y="-76200"/>
              <a:ext cx="2456010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Language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486606"/>
              <a:ext cx="5173970" cy="3030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System Verilog</a:t>
              </a: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2800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77294" y="3050611"/>
            <a:ext cx="3253273" cy="4888068"/>
            <a:chOff x="0" y="0"/>
            <a:chExt cx="4337698" cy="6517424"/>
          </a:xfrm>
        </p:grpSpPr>
        <p:sp>
          <p:nvSpPr>
            <p:cNvPr id="18" name="Freeform 18"/>
            <p:cNvSpPr/>
            <p:nvPr/>
          </p:nvSpPr>
          <p:spPr>
            <a:xfrm>
              <a:off x="1025580" y="973428"/>
              <a:ext cx="2286537" cy="2286537"/>
            </a:xfrm>
            <a:custGeom>
              <a:avLst/>
              <a:gdLst/>
              <a:ahLst/>
              <a:cxnLst/>
              <a:rect l="l" t="t" r="r" b="b"/>
              <a:pathLst>
                <a:path w="2286537" h="2286537">
                  <a:moveTo>
                    <a:pt x="0" y="0"/>
                  </a:moveTo>
                  <a:lnTo>
                    <a:pt x="2286537" y="0"/>
                  </a:lnTo>
                  <a:lnTo>
                    <a:pt x="2286537" y="2286537"/>
                  </a:lnTo>
                  <a:lnTo>
                    <a:pt x="0" y="2286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330729" y="3486606"/>
              <a:ext cx="3665510" cy="3030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Vivado</a:t>
              </a: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2800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4337698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Design Tool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264071" y="3077599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28700" y="4367416"/>
            <a:ext cx="2267795" cy="541436"/>
          </a:xfrm>
          <a:custGeom>
            <a:avLst/>
            <a:gdLst/>
            <a:ahLst/>
            <a:cxnLst/>
            <a:rect l="l" t="t" r="r" b="b"/>
            <a:pathLst>
              <a:path w="2267795" h="541436">
                <a:moveTo>
                  <a:pt x="0" y="0"/>
                </a:moveTo>
                <a:lnTo>
                  <a:pt x="2267795" y="0"/>
                </a:lnTo>
                <a:lnTo>
                  <a:pt x="2267795" y="541436"/>
                </a:lnTo>
                <a:lnTo>
                  <a:pt x="0" y="5414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629443" y="3963528"/>
            <a:ext cx="1405428" cy="1349211"/>
          </a:xfrm>
          <a:custGeom>
            <a:avLst/>
            <a:gdLst/>
            <a:ahLst/>
            <a:cxnLst/>
            <a:rect l="l" t="t" r="r" b="b"/>
            <a:pathLst>
              <a:path w="1405428" h="1349211">
                <a:moveTo>
                  <a:pt x="0" y="0"/>
                </a:moveTo>
                <a:lnTo>
                  <a:pt x="1405428" y="0"/>
                </a:lnTo>
                <a:lnTo>
                  <a:pt x="1405428" y="1349211"/>
                </a:lnTo>
                <a:lnTo>
                  <a:pt x="0" y="1349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683591" y="2974411"/>
            <a:ext cx="2272018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Equipment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2118" y="5646516"/>
            <a:ext cx="2749133" cy="20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Basys3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OV7670</a:t>
            </a:r>
          </a:p>
          <a:p>
            <a:pPr algn="l">
              <a:lnSpc>
                <a:spcPts val="3499"/>
              </a:lnSpc>
            </a:pPr>
            <a:endParaRPr lang="en-US" sz="35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2800"/>
              </a:lnSpc>
            </a:pPr>
            <a:endParaRPr lang="en-US" sz="35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2630568" y="3050611"/>
            <a:ext cx="4596082" cy="5507379"/>
            <a:chOff x="0" y="0"/>
            <a:chExt cx="6128109" cy="7343172"/>
          </a:xfrm>
        </p:grpSpPr>
        <p:sp>
          <p:nvSpPr>
            <p:cNvPr id="27" name="TextBox 27"/>
            <p:cNvSpPr txBox="1"/>
            <p:nvPr/>
          </p:nvSpPr>
          <p:spPr>
            <a:xfrm>
              <a:off x="1444851" y="-76200"/>
              <a:ext cx="4683258" cy="783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0"/>
                </a:lnSpc>
                <a:spcBef>
                  <a:spcPct val="0"/>
                </a:spcBef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Code Management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9393" y="35983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829062"/>
              <a:ext cx="2575269" cy="2575269"/>
            </a:xfrm>
            <a:custGeom>
              <a:avLst/>
              <a:gdLst/>
              <a:ahLst/>
              <a:cxnLst/>
              <a:rect l="l" t="t" r="r" b="b"/>
              <a:pathLst>
                <a:path w="2575269" h="2575269">
                  <a:moveTo>
                    <a:pt x="0" y="0"/>
                  </a:moveTo>
                  <a:lnTo>
                    <a:pt x="2575269" y="0"/>
                  </a:lnTo>
                  <a:lnTo>
                    <a:pt x="2575269" y="2575269"/>
                  </a:lnTo>
                  <a:lnTo>
                    <a:pt x="0" y="2575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2138237" y="1068916"/>
              <a:ext cx="3725442" cy="2095561"/>
            </a:xfrm>
            <a:custGeom>
              <a:avLst/>
              <a:gdLst/>
              <a:ahLst/>
              <a:cxnLst/>
              <a:rect l="l" t="t" r="r" b="b"/>
              <a:pathLst>
                <a:path w="3725442" h="2095561">
                  <a:moveTo>
                    <a:pt x="0" y="0"/>
                  </a:moveTo>
                  <a:lnTo>
                    <a:pt x="3725442" y="0"/>
                  </a:lnTo>
                  <a:lnTo>
                    <a:pt x="3725442" y="2095561"/>
                  </a:lnTo>
                  <a:lnTo>
                    <a:pt x="0" y="209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1165810" y="3486606"/>
              <a:ext cx="3665510" cy="3856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Git</a:t>
              </a:r>
            </a:p>
            <a:p>
              <a:pPr marL="755651" lvl="1" indent="-377825" algn="l">
                <a:lnSpc>
                  <a:spcPts val="4900"/>
                </a:lnSpc>
                <a:buFont typeface="Arial"/>
                <a:buChar char="•"/>
              </a:pPr>
              <a:r>
                <a:rPr lang="en-US" sz="3500" b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GitHub</a:t>
              </a: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3499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  <a:p>
              <a:pPr algn="l">
                <a:lnSpc>
                  <a:spcPts val="2800"/>
                </a:lnSpc>
              </a:pPr>
              <a:endPara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63"/>
            <a:ext cx="1004241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02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System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32015" y="3018940"/>
            <a:ext cx="3619500" cy="2901289"/>
          </a:xfrm>
          <a:custGeom>
            <a:avLst/>
            <a:gdLst/>
            <a:ahLst/>
            <a:cxnLst/>
            <a:rect l="l" t="t" r="r" b="b"/>
            <a:pathLst>
              <a:path w="3619500" h="2901289">
                <a:moveTo>
                  <a:pt x="0" y="0"/>
                </a:moveTo>
                <a:lnTo>
                  <a:pt x="3619500" y="0"/>
                </a:lnTo>
                <a:lnTo>
                  <a:pt x="3619500" y="2901289"/>
                </a:lnTo>
                <a:lnTo>
                  <a:pt x="0" y="2901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595249" y="7075115"/>
            <a:ext cx="3143509" cy="1934419"/>
          </a:xfrm>
          <a:custGeom>
            <a:avLst/>
            <a:gdLst/>
            <a:ahLst/>
            <a:cxnLst/>
            <a:rect l="l" t="t" r="r" b="b"/>
            <a:pathLst>
              <a:path w="3143509" h="1934419">
                <a:moveTo>
                  <a:pt x="0" y="0"/>
                </a:moveTo>
                <a:lnTo>
                  <a:pt x="3143508" y="0"/>
                </a:lnTo>
                <a:lnTo>
                  <a:pt x="3143508" y="1934419"/>
                </a:lnTo>
                <a:lnTo>
                  <a:pt x="0" y="1934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818" t="-16681" r="-10286" b="-7849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60128" y="2995734"/>
            <a:ext cx="3619500" cy="2909656"/>
          </a:xfrm>
          <a:custGeom>
            <a:avLst/>
            <a:gdLst/>
            <a:ahLst/>
            <a:cxnLst/>
            <a:rect l="l" t="t" r="r" b="b"/>
            <a:pathLst>
              <a:path w="3619500" h="2909656">
                <a:moveTo>
                  <a:pt x="0" y="0"/>
                </a:moveTo>
                <a:lnTo>
                  <a:pt x="3619500" y="0"/>
                </a:lnTo>
                <a:lnTo>
                  <a:pt x="3619500" y="2909656"/>
                </a:lnTo>
                <a:lnTo>
                  <a:pt x="0" y="2909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86653" y="6994817"/>
            <a:ext cx="3143509" cy="1934419"/>
          </a:xfrm>
          <a:custGeom>
            <a:avLst/>
            <a:gdLst/>
            <a:ahLst/>
            <a:cxnLst/>
            <a:rect l="l" t="t" r="r" b="b"/>
            <a:pathLst>
              <a:path w="3143509" h="1934419">
                <a:moveTo>
                  <a:pt x="0" y="0"/>
                </a:moveTo>
                <a:lnTo>
                  <a:pt x="3143509" y="0"/>
                </a:lnTo>
                <a:lnTo>
                  <a:pt x="3143509" y="1934419"/>
                </a:lnTo>
                <a:lnTo>
                  <a:pt x="0" y="1934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818" t="-16681" r="-10286" b="-78493"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301192" y="7467871"/>
            <a:ext cx="1169496" cy="1148907"/>
          </a:xfrm>
          <a:custGeom>
            <a:avLst/>
            <a:gdLst/>
            <a:ahLst/>
            <a:cxnLst/>
            <a:rect l="l" t="t" r="r" b="b"/>
            <a:pathLst>
              <a:path w="1169496" h="1148907">
                <a:moveTo>
                  <a:pt x="1169496" y="0"/>
                </a:moveTo>
                <a:lnTo>
                  <a:pt x="0" y="0"/>
                </a:lnTo>
                <a:lnTo>
                  <a:pt x="0" y="1148907"/>
                </a:lnTo>
                <a:lnTo>
                  <a:pt x="1169496" y="1148907"/>
                </a:lnTo>
                <a:lnTo>
                  <a:pt x="1169496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10800000">
            <a:off x="2470688" y="7715482"/>
            <a:ext cx="1048277" cy="653685"/>
            <a:chOff x="0" y="0"/>
            <a:chExt cx="647700" cy="4038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System Architecture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97286" y="2167036"/>
            <a:ext cx="423072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Schematic Diagram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72297" y="6918617"/>
            <a:ext cx="132295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Data</a:t>
            </a:r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4642865" y="6191060"/>
            <a:ext cx="1048277" cy="653685"/>
            <a:chOff x="0" y="0"/>
            <a:chExt cx="647700" cy="40389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421992" y="5982361"/>
            <a:ext cx="2380886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원본 영상 데이터</a:t>
            </a:r>
          </a:p>
        </p:txBody>
      </p:sp>
      <p:grpSp>
        <p:nvGrpSpPr>
          <p:cNvPr id="26" name="Group 26"/>
          <p:cNvGrpSpPr/>
          <p:nvPr/>
        </p:nvGrpSpPr>
        <p:grpSpPr>
          <a:xfrm rot="-10800000">
            <a:off x="7058430" y="7635184"/>
            <a:ext cx="3275506" cy="653685"/>
            <a:chOff x="0" y="0"/>
            <a:chExt cx="2023840" cy="40389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23840" cy="403893"/>
            </a:xfrm>
            <a:custGeom>
              <a:avLst/>
              <a:gdLst/>
              <a:ahLst/>
              <a:cxnLst/>
              <a:rect l="l" t="t" r="r" b="b"/>
              <a:pathLst>
                <a:path w="2023840" h="403893">
                  <a:moveTo>
                    <a:pt x="239386" y="165578"/>
                  </a:moveTo>
                  <a:lnTo>
                    <a:pt x="2023840" y="165578"/>
                  </a:lnTo>
                  <a:lnTo>
                    <a:pt x="202384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20650" y="127000"/>
              <a:ext cx="190319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058430" y="7183729"/>
            <a:ext cx="28260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암호화 데이터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388784" y="2997021"/>
            <a:ext cx="3619500" cy="2901289"/>
          </a:xfrm>
          <a:custGeom>
            <a:avLst/>
            <a:gdLst/>
            <a:ahLst/>
            <a:cxnLst/>
            <a:rect l="l" t="t" r="r" b="b"/>
            <a:pathLst>
              <a:path w="3619500" h="2901289">
                <a:moveTo>
                  <a:pt x="0" y="0"/>
                </a:moveTo>
                <a:lnTo>
                  <a:pt x="3619500" y="0"/>
                </a:lnTo>
                <a:lnTo>
                  <a:pt x="3619500" y="2901289"/>
                </a:lnTo>
                <a:lnTo>
                  <a:pt x="0" y="2901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 rot="2994864">
            <a:off x="11277074" y="6182941"/>
            <a:ext cx="1048277" cy="653685"/>
            <a:chOff x="0" y="0"/>
            <a:chExt cx="647700" cy="40389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7619327">
            <a:off x="12231909" y="6193852"/>
            <a:ext cx="1048277" cy="653685"/>
            <a:chOff x="0" y="0"/>
            <a:chExt cx="647700" cy="40389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7700" cy="403893"/>
            </a:xfrm>
            <a:custGeom>
              <a:avLst/>
              <a:gdLst/>
              <a:ahLst/>
              <a:cxnLst/>
              <a:rect l="l" t="t" r="r" b="b"/>
              <a:pathLst>
                <a:path w="647700" h="403893">
                  <a:moveTo>
                    <a:pt x="239386" y="165578"/>
                  </a:moveTo>
                  <a:lnTo>
                    <a:pt x="647700" y="165578"/>
                  </a:lnTo>
                  <a:lnTo>
                    <a:pt x="647700" y="238301"/>
                  </a:lnTo>
                  <a:lnTo>
                    <a:pt x="239373" y="238301"/>
                  </a:lnTo>
                  <a:lnTo>
                    <a:pt x="302255" y="403893"/>
                  </a:lnTo>
                  <a:lnTo>
                    <a:pt x="0" y="201947"/>
                  </a:lnTo>
                  <a:lnTo>
                    <a:pt x="302255" y="0"/>
                  </a:lnTo>
                  <a:lnTo>
                    <a:pt x="239386" y="16557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20650" y="127000"/>
              <a:ext cx="527050" cy="111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8836394" y="5982361"/>
            <a:ext cx="28260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복호화 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785511" y="5982361"/>
            <a:ext cx="282604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복호화 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7" name="Freeform 7"/>
          <p:cNvSpPr/>
          <p:nvPr/>
        </p:nvSpPr>
        <p:spPr>
          <a:xfrm>
            <a:off x="1028700" y="2216249"/>
            <a:ext cx="12276382" cy="4572952"/>
          </a:xfrm>
          <a:custGeom>
            <a:avLst/>
            <a:gdLst/>
            <a:ahLst/>
            <a:cxnLst/>
            <a:rect l="l" t="t" r="r" b="b"/>
            <a:pathLst>
              <a:path w="12276382" h="4572952">
                <a:moveTo>
                  <a:pt x="0" y="0"/>
                </a:moveTo>
                <a:lnTo>
                  <a:pt x="12276382" y="0"/>
                </a:lnTo>
                <a:lnTo>
                  <a:pt x="12276382" y="4572952"/>
                </a:lnTo>
                <a:lnTo>
                  <a:pt x="0" y="4572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System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7286" y="2167036"/>
            <a:ext cx="287697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Block Diagram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01192" y="7111238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49239" y="7008050"/>
            <a:ext cx="287697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MASTER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225" y="7639086"/>
            <a:ext cx="3856124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Buffer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Core</a:t>
            </a:r>
          </a:p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Scrambling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391791" y="3546450"/>
            <a:ext cx="4088447" cy="3194099"/>
          </a:xfrm>
          <a:custGeom>
            <a:avLst/>
            <a:gdLst/>
            <a:ahLst/>
            <a:cxnLst/>
            <a:rect l="l" t="t" r="r" b="b"/>
            <a:pathLst>
              <a:path w="4088447" h="3194099">
                <a:moveTo>
                  <a:pt x="0" y="0"/>
                </a:moveTo>
                <a:lnTo>
                  <a:pt x="4088447" y="0"/>
                </a:lnTo>
                <a:lnTo>
                  <a:pt x="4088447" y="3194100"/>
                </a:lnTo>
                <a:lnTo>
                  <a:pt x="0" y="319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962106" y="6930658"/>
            <a:ext cx="287697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SLAVE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42092" y="7561693"/>
            <a:ext cx="385612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Descrambling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714059" y="7060833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63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03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Function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10369" y="2270224"/>
            <a:ext cx="9092035" cy="4716493"/>
          </a:xfrm>
          <a:custGeom>
            <a:avLst/>
            <a:gdLst/>
            <a:ahLst/>
            <a:cxnLst/>
            <a:rect l="l" t="t" r="r" b="b"/>
            <a:pathLst>
              <a:path w="9092035" h="4716493">
                <a:moveTo>
                  <a:pt x="0" y="0"/>
                </a:moveTo>
                <a:lnTo>
                  <a:pt x="9092036" y="0"/>
                </a:lnTo>
                <a:lnTo>
                  <a:pt x="9092036" y="4716493"/>
                </a:lnTo>
                <a:lnTo>
                  <a:pt x="0" y="4716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7286" y="2167036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SCCB Master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9239" y="7148393"/>
            <a:ext cx="9208365" cy="2331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672" lvl="1" indent="-292336" algn="l">
              <a:lnSpc>
                <a:spcPts val="3791"/>
              </a:lnSpc>
              <a:buFont typeface="Arial"/>
              <a:buChar char="•"/>
            </a:pPr>
            <a:r>
              <a:rPr lang="en-US" sz="270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SDA/SCL신호를 이용해 카메라를 제어하는 모듈</a:t>
            </a:r>
          </a:p>
          <a:p>
            <a:pPr algn="l">
              <a:lnSpc>
                <a:spcPts val="3791"/>
              </a:lnSpc>
            </a:pPr>
            <a:endParaRPr lang="en-US" sz="270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84672" lvl="1" indent="-292336" algn="l">
              <a:lnSpc>
                <a:spcPts val="3791"/>
              </a:lnSpc>
              <a:buFont typeface="Arial"/>
              <a:buChar char="•"/>
            </a:pPr>
            <a:r>
              <a:rPr lang="en-US" sz="270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ROM 데이터를 Read 후 카메라의 레지스터 값을 수정</a:t>
            </a:r>
          </a:p>
          <a:p>
            <a:pPr algn="l">
              <a:lnSpc>
                <a:spcPts val="3791"/>
              </a:lnSpc>
            </a:pPr>
            <a:endParaRPr lang="en-US" sz="270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84672" lvl="1" indent="-292336" algn="l">
              <a:lnSpc>
                <a:spcPts val="3791"/>
              </a:lnSpc>
              <a:buFont typeface="Arial"/>
              <a:buChar char="•"/>
            </a:pPr>
            <a:r>
              <a:rPr lang="en-US" sz="270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카메라(OV7670) SCL 타이밍을 생성을 위한 CLK_GEN을 사용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39313" y="6456492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3" y="0"/>
                </a:lnTo>
                <a:lnTo>
                  <a:pt x="49609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95853" y="6380292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Check 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3411636"/>
            <a:ext cx="7474500" cy="4850035"/>
          </a:xfrm>
          <a:custGeom>
            <a:avLst/>
            <a:gdLst/>
            <a:ahLst/>
            <a:cxnLst/>
            <a:rect l="l" t="t" r="r" b="b"/>
            <a:pathLst>
              <a:path w="7474500" h="4850035">
                <a:moveTo>
                  <a:pt x="0" y="0"/>
                </a:moveTo>
                <a:lnTo>
                  <a:pt x="7474500" y="0"/>
                </a:lnTo>
                <a:lnTo>
                  <a:pt x="7474500" y="4850035"/>
                </a:lnTo>
                <a:lnTo>
                  <a:pt x="0" y="4850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042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7286" y="2167036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Buffer Logic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18624" y="3527308"/>
            <a:ext cx="8440676" cy="426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카메라에서 들어오는 한 프레임을 메모리 저장</a:t>
            </a: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xclk과 pclk → Write, Read 동작을 분리</a:t>
            </a: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모션 검출 : 이전 프레임과 현재 프레임 밝기 비교</a:t>
            </a: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12919" lvl="1" indent="-306459" algn="l">
              <a:lnSpc>
                <a:spcPts val="3974"/>
              </a:lnSpc>
              <a:buFont typeface="Arial"/>
              <a:buChar char="•"/>
            </a:pPr>
            <a:r>
              <a:rPr lang="en-US" sz="2838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Ping-pong Buffering 구조 구현 </a:t>
            </a:r>
          </a:p>
          <a:p>
            <a:pPr algn="l">
              <a:lnSpc>
                <a:spcPts val="132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132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974"/>
              </a:lnSpc>
            </a:pPr>
            <a:endParaRPr lang="en-US" sz="2838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9144000" y="2297211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500541" y="2221011"/>
            <a:ext cx="30130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Check Point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192" y="22702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12362" y="6479431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3" y="0"/>
                </a:lnTo>
                <a:lnTo>
                  <a:pt x="496093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30648" y="2679383"/>
            <a:ext cx="11301259" cy="3800048"/>
          </a:xfrm>
          <a:custGeom>
            <a:avLst/>
            <a:gdLst/>
            <a:ahLst/>
            <a:cxnLst/>
            <a:rect l="l" t="t" r="r" b="b"/>
            <a:pathLst>
              <a:path w="11301259" h="3800048">
                <a:moveTo>
                  <a:pt x="0" y="0"/>
                </a:moveTo>
                <a:lnTo>
                  <a:pt x="11301259" y="0"/>
                </a:lnTo>
                <a:lnTo>
                  <a:pt x="11301259" y="3800048"/>
                </a:lnTo>
                <a:lnTo>
                  <a:pt x="0" y="3800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7286" y="2167036"/>
            <a:ext cx="1200576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Motion Compare &amp; Motion Coordinate &amp; Motion Display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8250" y="7106494"/>
            <a:ext cx="15692199" cy="238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14" lvl="1" indent="-315757" algn="l">
              <a:lnSpc>
                <a:spcPts val="4095"/>
              </a:lnSpc>
              <a:buFont typeface="Arial"/>
              <a:buChar char="•"/>
            </a:pPr>
            <a:r>
              <a:rPr lang="en-US" sz="29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Compare : RGB-to-Grayscale 변환 및 Frame Difference(차분) 기반 모션 감지</a:t>
            </a:r>
          </a:p>
          <a:p>
            <a:pPr algn="l">
              <a:lnSpc>
                <a:spcPts val="1399"/>
              </a:lnSpc>
            </a:pPr>
            <a:endParaRPr lang="en-US" sz="29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1514" lvl="1" indent="-315757" algn="l">
              <a:lnSpc>
                <a:spcPts val="4095"/>
              </a:lnSpc>
              <a:buFont typeface="Arial"/>
              <a:buChar char="•"/>
            </a:pPr>
            <a:r>
              <a:rPr lang="en-US" sz="29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Coordinate : 활성 픽셀(Flag) 누적 연산을 통한 표적 중심 좌표(Center of Coordinate) 산출</a:t>
            </a:r>
          </a:p>
          <a:p>
            <a:pPr algn="l">
              <a:lnSpc>
                <a:spcPts val="1399"/>
              </a:lnSpc>
            </a:pPr>
            <a:endParaRPr lang="en-US" sz="29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1514" lvl="1" indent="-315757" algn="l">
              <a:lnSpc>
                <a:spcPts val="4095"/>
              </a:lnSpc>
              <a:buFont typeface="Arial"/>
              <a:buChar char="•"/>
            </a:pPr>
            <a:r>
              <a:rPr lang="en-US" sz="29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Motion Display : 좌표 기반 표적 추적 박스(Target Indicator) 오버레이 및 영상 합성</a:t>
            </a:r>
          </a:p>
          <a:p>
            <a:pPr algn="l">
              <a:lnSpc>
                <a:spcPts val="4095"/>
              </a:lnSpc>
            </a:pPr>
            <a:endParaRPr lang="en-US" sz="29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08455" y="6376244"/>
            <a:ext cx="734671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check point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81401" y="2017731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0681" y="6120908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066666" y="2493981"/>
            <a:ext cx="7676449" cy="3991753"/>
          </a:xfrm>
          <a:custGeom>
            <a:avLst/>
            <a:gdLst/>
            <a:ahLst/>
            <a:cxnLst/>
            <a:rect l="l" t="t" r="r" b="b"/>
            <a:pathLst>
              <a:path w="7676449" h="3991753">
                <a:moveTo>
                  <a:pt x="0" y="0"/>
                </a:moveTo>
                <a:lnTo>
                  <a:pt x="7676448" y="0"/>
                </a:lnTo>
                <a:lnTo>
                  <a:pt x="7676448" y="3991753"/>
                </a:lnTo>
                <a:lnTo>
                  <a:pt x="0" y="3991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35527" y="2873393"/>
            <a:ext cx="6699646" cy="3030229"/>
          </a:xfrm>
          <a:custGeom>
            <a:avLst/>
            <a:gdLst/>
            <a:ahLst/>
            <a:cxnLst/>
            <a:rect l="l" t="t" r="r" b="b"/>
            <a:pathLst>
              <a:path w="6699646" h="3030229">
                <a:moveTo>
                  <a:pt x="0" y="0"/>
                </a:moveTo>
                <a:lnTo>
                  <a:pt x="6699646" y="0"/>
                </a:lnTo>
                <a:lnTo>
                  <a:pt x="6699646" y="3030229"/>
                </a:lnTo>
                <a:lnTo>
                  <a:pt x="0" y="3030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81401" y="6681322"/>
            <a:ext cx="15770529" cy="359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Master : 원본 픽셀 데이터 마다 XOR 암호키 값 생성</a:t>
            </a:r>
          </a:p>
          <a:p>
            <a:pPr algn="l">
              <a:lnSpc>
                <a:spcPts val="1399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Slave   : Master에서 생성하는 암호키와 동일한 타이밍에 생성  </a:t>
            </a:r>
          </a:p>
          <a:p>
            <a:pPr algn="l">
              <a:lnSpc>
                <a:spcPts val="1399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암호화 원리 : Scrambled data = 원본 data ⊕ 암호키</a:t>
            </a:r>
          </a:p>
          <a:p>
            <a:pPr algn="l">
              <a:lnSpc>
                <a:spcPts val="1399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634667" lvl="1" indent="-317333" algn="l">
              <a:lnSpc>
                <a:spcPts val="4115"/>
              </a:lnSpc>
              <a:buFont typeface="Arial"/>
              <a:buChar char="•"/>
            </a:pPr>
            <a:r>
              <a:rPr lang="en-US" sz="293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복호화 원리 : 원본 data = Scrambled data ⊕ 암호키 </a:t>
            </a:r>
          </a:p>
          <a:p>
            <a:pPr algn="l">
              <a:lnSpc>
                <a:spcPts val="4115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4115"/>
              </a:lnSpc>
            </a:pPr>
            <a:endParaRPr lang="en-US" sz="2939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Function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7495" y="1914543"/>
            <a:ext cx="734671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LFSR(Linear Feedback Shift Register)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8728" y="6017720"/>
            <a:ext cx="253213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 check point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63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04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동작영상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2869871" y="1906307"/>
            <a:ext cx="12960135" cy="7290076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동작영상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44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05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Trouble Shooting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89296" y="6563900"/>
            <a:ext cx="15277057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고정된 12bit CODE로 모든 픽셀 암호화 시 색만 바뀌는 현상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 12bit CODE 값을 고정값이 아닌 LSFR 로직을 통해 매 클럭마다 CODE를 바꿔주는 로직으로 생성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700539" y="7433372"/>
            <a:ext cx="0" cy="606998"/>
          </a:xfrm>
          <a:prstGeom prst="line">
            <a:avLst/>
          </a:prstGeom>
          <a:ln w="762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1889296" y="3223420"/>
            <a:ext cx="3663768" cy="3158254"/>
          </a:xfrm>
          <a:custGeom>
            <a:avLst/>
            <a:gdLst/>
            <a:ahLst/>
            <a:cxnLst/>
            <a:rect l="l" t="t" r="r" b="b"/>
            <a:pathLst>
              <a:path w="3663768" h="3158254">
                <a:moveTo>
                  <a:pt x="0" y="0"/>
                </a:moveTo>
                <a:lnTo>
                  <a:pt x="3663768" y="0"/>
                </a:lnTo>
                <a:lnTo>
                  <a:pt x="3663768" y="3158254"/>
                </a:lnTo>
                <a:lnTo>
                  <a:pt x="0" y="3158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91573" y="2554784"/>
            <a:ext cx="108110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암호화 과정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8068945"/>
            <a:ext cx="15277057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암호화 과정 ( LFSR ) 에서 사용한 클럭을 100MHz 을 이용하여서 적은 경우의 수(1/4) 사용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100MHz 클럭이 아닌 25MHz PCLK 을 이용.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65563" y="3907970"/>
            <a:ext cx="7232536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Scrambled data = 원본 data ⊕ 암호키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65563" y="4747885"/>
            <a:ext cx="8907174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원본 data = Scrambled data ⊕ 암호키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91573" y="2554784"/>
            <a:ext cx="108110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Port Mapping Rule Violation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9296" y="3555545"/>
            <a:ext cx="15277057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Master → VGA 전송 데이터 정상 출력, Master → SLAVE 로 전송 데이터 출력 X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데이터, 싱크중 어떤 것이 문제인지 알 수 없었고, ANALYZER를 이용하여 포트의 출력 신호 확인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 원인 : Output Data는 동시에 여러 포트 동시 할당 ( XDC 파일 ) 불가능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#결과 : 2개의 OUTPUT Port 연결,  MASTER VGA와 SLAVE VGA 모두 정상적으로 동작 확인.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99235" y="3827980"/>
            <a:ext cx="16360065" cy="2345606"/>
          </a:xfrm>
          <a:custGeom>
            <a:avLst/>
            <a:gdLst/>
            <a:ahLst/>
            <a:cxnLst/>
            <a:rect l="l" t="t" r="r" b="b"/>
            <a:pathLst>
              <a:path w="16360065" h="2345606">
                <a:moveTo>
                  <a:pt x="0" y="0"/>
                </a:moveTo>
                <a:lnTo>
                  <a:pt x="16360065" y="0"/>
                </a:lnTo>
                <a:lnTo>
                  <a:pt x="16360065" y="2345606"/>
                </a:lnTo>
                <a:lnTo>
                  <a:pt x="0" y="2345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245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1573" y="2554784"/>
            <a:ext cx="272657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복호화 과정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441" y="6957821"/>
            <a:ext cx="15277057" cy="210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 Reset_Code일 때 CODE 가 초기 값으로 고정되어 암호화 X</a:t>
            </a:r>
          </a:p>
          <a:p>
            <a:pPr algn="l">
              <a:lnSpc>
                <a:spcPts val="1399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문제정의 : KEY 값이 틀리더라도 CODE값이 일정하여 색만 바뀌는 노이즈로 변경</a:t>
            </a:r>
          </a:p>
          <a:p>
            <a:pPr algn="l">
              <a:lnSpc>
                <a:spcPts val="1399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Reset의 Rising Edge(10ns) Signal 생성</a:t>
            </a:r>
          </a:p>
          <a:p>
            <a:pPr algn="l">
              <a:lnSpc>
                <a:spcPts val="1399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결과 : 리셋 버튼을 꾹 누르고 있더라도 Rising Edge 에서만 reset 이 되어 원하는 암호화가 가능.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731821" y="3640175"/>
            <a:ext cx="929769" cy="1069742"/>
          </a:xfrm>
          <a:prstGeom prst="line">
            <a:avLst/>
          </a:prstGeom>
          <a:ln w="762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TextBox 16"/>
          <p:cNvSpPr txBox="1"/>
          <p:nvPr/>
        </p:nvSpPr>
        <p:spPr>
          <a:xfrm>
            <a:off x="2458983" y="3167569"/>
            <a:ext cx="272657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초기 code값 유지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2924173" y="5734054"/>
            <a:ext cx="1661978" cy="631821"/>
          </a:xfrm>
          <a:prstGeom prst="line">
            <a:avLst/>
          </a:prstGeom>
          <a:ln w="762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8" name="TextBox 18"/>
          <p:cNvSpPr txBox="1"/>
          <p:nvPr/>
        </p:nvSpPr>
        <p:spPr>
          <a:xfrm>
            <a:off x="1429509" y="6347585"/>
            <a:ext cx="3598315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Rising Signal(10ns) 생성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115735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27139" y="3553112"/>
            <a:ext cx="8226386" cy="1134115"/>
          </a:xfrm>
          <a:custGeom>
            <a:avLst/>
            <a:gdLst/>
            <a:ahLst/>
            <a:cxnLst/>
            <a:rect l="l" t="t" r="r" b="b"/>
            <a:pathLst>
              <a:path w="8226386" h="1134115">
                <a:moveTo>
                  <a:pt x="0" y="0"/>
                </a:moveTo>
                <a:lnTo>
                  <a:pt x="8226386" y="0"/>
                </a:lnTo>
                <a:lnTo>
                  <a:pt x="8226386" y="1134115"/>
                </a:lnTo>
                <a:lnTo>
                  <a:pt x="0" y="1134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8" r="-115443" b="-788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27139" y="4687227"/>
            <a:ext cx="8226386" cy="1139001"/>
          </a:xfrm>
          <a:custGeom>
            <a:avLst/>
            <a:gdLst/>
            <a:ahLst/>
            <a:cxnLst/>
            <a:rect l="l" t="t" r="r" b="b"/>
            <a:pathLst>
              <a:path w="8226386" h="1139001">
                <a:moveTo>
                  <a:pt x="0" y="0"/>
                </a:moveTo>
                <a:lnTo>
                  <a:pt x="8226386" y="0"/>
                </a:lnTo>
                <a:lnTo>
                  <a:pt x="8226386" y="1139001"/>
                </a:lnTo>
                <a:lnTo>
                  <a:pt x="0" y="113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8" r="-116371" b="-788"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5563518" y="4366766"/>
            <a:ext cx="0" cy="1068720"/>
          </a:xfrm>
          <a:prstGeom prst="line">
            <a:avLst/>
          </a:prstGeom>
          <a:ln w="28575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Freeform 14"/>
          <p:cNvSpPr/>
          <p:nvPr/>
        </p:nvSpPr>
        <p:spPr>
          <a:xfrm>
            <a:off x="10389857" y="3767908"/>
            <a:ext cx="6660113" cy="1838639"/>
          </a:xfrm>
          <a:custGeom>
            <a:avLst/>
            <a:gdLst/>
            <a:ahLst/>
            <a:cxnLst/>
            <a:rect l="l" t="t" r="r" b="b"/>
            <a:pathLst>
              <a:path w="6660113" h="1838639">
                <a:moveTo>
                  <a:pt x="0" y="0"/>
                </a:moveTo>
                <a:lnTo>
                  <a:pt x="6660113" y="0"/>
                </a:lnTo>
                <a:lnTo>
                  <a:pt x="6660113" y="1838639"/>
                </a:lnTo>
                <a:lnTo>
                  <a:pt x="0" y="183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50970"/>
            </a:stretch>
          </a:blipFill>
        </p:spPr>
      </p:sp>
      <p:sp>
        <p:nvSpPr>
          <p:cNvPr id="15" name="AutoShape 15"/>
          <p:cNvSpPr/>
          <p:nvPr/>
        </p:nvSpPr>
        <p:spPr>
          <a:xfrm>
            <a:off x="9234396" y="4683659"/>
            <a:ext cx="1154990" cy="7136"/>
          </a:xfrm>
          <a:prstGeom prst="line">
            <a:avLst/>
          </a:prstGeom>
          <a:ln w="1524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Freeform 16"/>
          <p:cNvSpPr/>
          <p:nvPr/>
        </p:nvSpPr>
        <p:spPr>
          <a:xfrm>
            <a:off x="10636126" y="3077760"/>
            <a:ext cx="441636" cy="441636"/>
          </a:xfrm>
          <a:custGeom>
            <a:avLst/>
            <a:gdLst/>
            <a:ahLst/>
            <a:cxnLst/>
            <a:rect l="l" t="t" r="r" b="b"/>
            <a:pathLst>
              <a:path w="441636" h="441636">
                <a:moveTo>
                  <a:pt x="0" y="0"/>
                </a:moveTo>
                <a:lnTo>
                  <a:pt x="441636" y="0"/>
                </a:lnTo>
                <a:lnTo>
                  <a:pt x="441636" y="441637"/>
                </a:lnTo>
                <a:lnTo>
                  <a:pt x="0" y="4416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91573" y="2153200"/>
            <a:ext cx="12600671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암호화 키 초기화 동기 실패 원인 분석 및 신호 무결성(Signal Integrity) 확보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9296" y="6120215"/>
            <a:ext cx="15277057" cy="278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 Reset 버튼을 눌렀을 경우 암호키 동시 Reset 실패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문제정의 :  10ns rising 신호가 posedge pclk에 falling했을 시에 Metastability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Reset의 Rising Edge를 40ns 이상 길게 유지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결과 : 암호화, 복호화 모듈 모두 동일한 타이밍에 초기화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7139" y="3681384"/>
            <a:ext cx="1071522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MASTER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7139" y="4704714"/>
            <a:ext cx="1071522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3131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SLAVE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85390" y="3030135"/>
            <a:ext cx="4313813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Before : Timing Diagram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45744" y="3030135"/>
            <a:ext cx="4313813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After : Timing Diagram</a:t>
            </a:r>
          </a:p>
        </p:txBody>
      </p:sp>
      <p:sp>
        <p:nvSpPr>
          <p:cNvPr id="24" name="Freeform 24"/>
          <p:cNvSpPr/>
          <p:nvPr/>
        </p:nvSpPr>
        <p:spPr>
          <a:xfrm>
            <a:off x="1889296" y="3044800"/>
            <a:ext cx="441636" cy="441636"/>
          </a:xfrm>
          <a:custGeom>
            <a:avLst/>
            <a:gdLst/>
            <a:ahLst/>
            <a:cxnLst/>
            <a:rect l="l" t="t" r="r" b="b"/>
            <a:pathLst>
              <a:path w="441636" h="441636">
                <a:moveTo>
                  <a:pt x="0" y="0"/>
                </a:moveTo>
                <a:lnTo>
                  <a:pt x="441637" y="0"/>
                </a:lnTo>
                <a:lnTo>
                  <a:pt x="441637" y="441637"/>
                </a:lnTo>
                <a:lnTo>
                  <a:pt x="0" y="4416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89296" y="2517320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889296" y="3322166"/>
            <a:ext cx="15277057" cy="5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문제상황 :  움직이는 물체가 화면에서 사라졌는데도, 이전에 찍힌 LOCK ON 계속 남아 있음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문제정의 :  움직이는 물체가 없으면 LOCK ON 마크가 없어야 정상, 그렇지만 이전 프레임 중심 좌표 값이 유지되어 마지막 위치에 마크가 고정되는 문제 발생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해결방법 : 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1. Motion_coordinate(모션 중심 좌표 계산)에서 중심 좌표값 초기화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2. motion_valid(프레임 단위)를 추가하여 움직임이 감지되면 1, 아니면 0을 motion_display로 출력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3. 움직임이 감지되지 않았을 때는 원본 RGB 픽셀값이 출력되게 함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# 결과 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움직이는 물체가 없을 경우 LOCK ON 마크가 사라지고 원본 카메라 영상만 출력되는 것을 확인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Trouble Shooting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1573" y="2554784"/>
            <a:ext cx="12600671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Case : 움직임이 없을 때 LOCK ON 마크가 남아있음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122792" y="4373544"/>
            <a:ext cx="10042417" cy="137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06</a:t>
            </a:r>
            <a:r>
              <a:rPr lang="en-US" sz="8000" b="1" spc="-16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Conclusion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966507"/>
            <a:ext cx="8517301" cy="669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Discussion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889296" y="254853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91573" y="2585999"/>
            <a:ext cx="59423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Dual Frame Buffer를 왜 사용했는가?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13783" y="3249604"/>
            <a:ext cx="15445517" cy="281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046" lvl="1" indent="-251023" algn="l">
              <a:lnSpc>
                <a:spcPts val="3255"/>
              </a:lnSpc>
              <a:buFont typeface="Arial"/>
              <a:buChar char="•"/>
            </a:pPr>
            <a:r>
              <a:rPr lang="en-US" sz="23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 의도: 실시간으로 움직이는 물체를 추적하기 위해 Frame Difference Algorithm 채택</a:t>
            </a: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02046" lvl="1" indent="-251023" algn="l">
              <a:lnSpc>
                <a:spcPts val="3255"/>
              </a:lnSpc>
              <a:buFont typeface="Arial"/>
              <a:buChar char="•"/>
            </a:pPr>
            <a:r>
              <a:rPr lang="en-US" sz="23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조명 변화 및 노이즈에 대한 민감도 문제</a:t>
            </a: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02046" lvl="1" indent="-251023" algn="l">
              <a:lnSpc>
                <a:spcPts val="3255"/>
              </a:lnSpc>
              <a:buFont typeface="Arial"/>
              <a:buChar char="•"/>
            </a:pPr>
            <a:r>
              <a:rPr lang="en-US" sz="2325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Multi Object Tracking 제한</a:t>
            </a: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55"/>
              </a:lnSpc>
            </a:pPr>
            <a:endParaRPr lang="en-US" sz="2325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889296" y="5831269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91573" y="5868734"/>
            <a:ext cx="5942377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영상 데이터 Noise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6536119"/>
            <a:ext cx="15370004" cy="285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048" lvl="1" indent="-251524" algn="l">
              <a:lnSpc>
                <a:spcPts val="3262"/>
              </a:lnSpc>
              <a:buFont typeface="Arial"/>
              <a:buChar char="•"/>
            </a:pPr>
            <a:r>
              <a:rPr lang="en-US" sz="233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 의도: SCCB 모듈로 카메라 레지스터를 설정해 QQVGA 영상 출력</a:t>
            </a:r>
          </a:p>
          <a:p>
            <a:pPr algn="l">
              <a:lnSpc>
                <a:spcPts val="3262"/>
              </a:lnSpc>
            </a:pPr>
            <a:endParaRPr lang="en-US" sz="233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503048" lvl="1" indent="-251524" algn="l">
              <a:lnSpc>
                <a:spcPts val="3262"/>
              </a:lnSpc>
              <a:buFont typeface="Arial"/>
              <a:buChar char="•"/>
            </a:pPr>
            <a:r>
              <a:rPr lang="en-US" sz="233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좌측 가장자리 라인에서 잡음 발생</a:t>
            </a:r>
            <a:r>
              <a:rPr lang="en-US" sz="233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 </a:t>
            </a:r>
          </a:p>
          <a:p>
            <a:pPr algn="l">
              <a:lnSpc>
                <a:spcPts val="3262"/>
              </a:lnSpc>
            </a:pPr>
            <a:endParaRPr lang="en-US" sz="2330">
              <a:solidFill>
                <a:srgbClr val="000000"/>
              </a:solidFill>
              <a:latin typeface="각진펜"/>
              <a:ea typeface="각진펜"/>
              <a:cs typeface="각진펜"/>
              <a:sym typeface="각진펜"/>
            </a:endParaRPr>
          </a:p>
          <a:p>
            <a:pPr marL="503048" lvl="1" indent="-251524" algn="l">
              <a:lnSpc>
                <a:spcPts val="3262"/>
              </a:lnSpc>
              <a:buFont typeface="Arial"/>
              <a:buChar char="•"/>
            </a:pPr>
            <a:r>
              <a:rPr lang="en-US" sz="233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Frame Buffer에서 가장자리의 주소를 read하는것을 제한</a:t>
            </a:r>
          </a:p>
          <a:p>
            <a:pPr algn="l">
              <a:lnSpc>
                <a:spcPts val="3262"/>
              </a:lnSpc>
            </a:pPr>
            <a:endParaRPr lang="en-US" sz="233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62"/>
              </a:lnSpc>
              <a:spcBef>
                <a:spcPct val="0"/>
              </a:spcBef>
            </a:pPr>
            <a:endParaRPr lang="en-US" sz="233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7287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143000"/>
            <a:chOff x="0" y="0"/>
            <a:chExt cx="4391105" cy="301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301037"/>
            </a:xfrm>
            <a:custGeom>
              <a:avLst/>
              <a:gdLst/>
              <a:ahLst/>
              <a:cxnLst/>
              <a:rect l="l" t="t" r="r" b="b"/>
              <a:pathLst>
                <a:path w="4391105" h="301037">
                  <a:moveTo>
                    <a:pt x="0" y="0"/>
                  </a:moveTo>
                  <a:lnTo>
                    <a:pt x="4391105" y="0"/>
                  </a:lnTo>
                  <a:lnTo>
                    <a:pt x="4391105" y="301037"/>
                  </a:lnTo>
                  <a:lnTo>
                    <a:pt x="0" y="30103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3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966507"/>
            <a:ext cx="8517301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Conclusion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89296" y="2548534"/>
            <a:ext cx="2911304" cy="511036"/>
            <a:chOff x="0" y="0"/>
            <a:chExt cx="3881738" cy="681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1458" cy="635000"/>
            </a:xfrm>
            <a:custGeom>
              <a:avLst/>
              <a:gdLst/>
              <a:ahLst/>
              <a:cxnLst/>
              <a:rect l="l" t="t" r="r" b="b"/>
              <a:pathLst>
                <a:path w="661458" h="635000">
                  <a:moveTo>
                    <a:pt x="0" y="0"/>
                  </a:moveTo>
                  <a:lnTo>
                    <a:pt x="661458" y="0"/>
                  </a:lnTo>
                  <a:lnTo>
                    <a:pt x="661458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936369" y="65828"/>
              <a:ext cx="2945369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프로젝트</a:t>
              </a:r>
              <a:r>
                <a:rPr lang="en-US" sz="2599" b="1" dirty="0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 </a:t>
              </a:r>
              <a:r>
                <a:rPr lang="en-US" sz="2599" b="1" dirty="0" err="1">
                  <a:solidFill>
                    <a:srgbClr val="000000"/>
                  </a:solidFill>
                  <a:latin typeface="각진펜 Bold"/>
                  <a:ea typeface="각진펜 Bold"/>
                  <a:cs typeface="각진펜 Bold"/>
                  <a:sym typeface="각진펜 Bold"/>
                </a:rPr>
                <a:t>성과</a:t>
              </a:r>
              <a:endParaRPr lang="en-US" sz="2599" b="1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889296" y="5576624"/>
            <a:ext cx="496094" cy="476250"/>
          </a:xfrm>
          <a:custGeom>
            <a:avLst/>
            <a:gdLst/>
            <a:ahLst/>
            <a:cxnLst/>
            <a:rect l="l" t="t" r="r" b="b"/>
            <a:pathLst>
              <a:path w="496094" h="476250">
                <a:moveTo>
                  <a:pt x="0" y="0"/>
                </a:moveTo>
                <a:lnTo>
                  <a:pt x="496094" y="0"/>
                </a:lnTo>
                <a:lnTo>
                  <a:pt x="49609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591573" y="5614089"/>
            <a:ext cx="3373083" cy="438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향후 계획 및 배운 점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296" y="6174569"/>
            <a:ext cx="15370004" cy="278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현재 좌표 중심 계산 방식은 여러 물체가 움직일 때 추적 제한 → 추후 Multi-Object Tracking으로 발전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각기 다른 보드에서 보내는 신호에 대한 디버깅에는 Analyzer 필수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 구현하면서 Analyzer 및 Test Port를 이용한 Debugging Technique 향상 및 Metastability Timing 이해도 향상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89296" y="3282369"/>
            <a:ext cx="15277057" cy="238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OV7670 카메라 제어 및 Ping-Pong Buffer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프레임 간 차분 기법을 통해 실시간 동적 표적 추적기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LFSR을 이용해 실시간 영상 암호화 및 복호화 구조 구현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7287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07762" y="763307"/>
            <a:ext cx="16672477" cy="1578652"/>
            <a:chOff x="0" y="0"/>
            <a:chExt cx="4391105" cy="4157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1105" cy="415777"/>
            </a:xfrm>
            <a:custGeom>
              <a:avLst/>
              <a:gdLst/>
              <a:ahLst/>
              <a:cxnLst/>
              <a:rect l="l" t="t" r="r" b="b"/>
              <a:pathLst>
                <a:path w="4391105" h="415777">
                  <a:moveTo>
                    <a:pt x="0" y="0"/>
                  </a:moveTo>
                  <a:lnTo>
                    <a:pt x="4391105" y="0"/>
                  </a:lnTo>
                  <a:lnTo>
                    <a:pt x="4391105" y="415777"/>
                  </a:lnTo>
                  <a:lnTo>
                    <a:pt x="0" y="415777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391105" cy="45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0420" y="2946088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박성훈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5817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팀장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62656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982304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503120" y="2391733"/>
            <a:ext cx="13814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500" b="1" dirty="0" err="1">
                <a:solidFill>
                  <a:srgbClr val="004AAD"/>
                </a:solidFill>
                <a:latin typeface="각진펜 Bold" panose="020B0600000101010101" charset="-127"/>
                <a:ea typeface="각진펜 Bold" panose="020B0600000101010101" charset="-127"/>
                <a:cs typeface="Gotham Bold"/>
                <a:sym typeface="Gotham Bold"/>
              </a:rPr>
              <a:t>팀원</a:t>
            </a:r>
            <a:endParaRPr lang="en-US" sz="3500" b="1" dirty="0">
              <a:solidFill>
                <a:srgbClr val="004AAD"/>
              </a:solidFill>
              <a:latin typeface="각진펜 Bold" panose="020B0600000101010101" charset="-127"/>
              <a:ea typeface="각진펜 Bold" panose="020B0600000101010101" charset="-127"/>
              <a:cs typeface="Gotham Bold"/>
              <a:sym typeface="Gotham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34642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김승훈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47724" y="2909973"/>
            <a:ext cx="3292270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조민준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5350" y="1068446"/>
            <a:ext cx="851730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소감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3897" y="2909973"/>
            <a:ext cx="187680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spc="-7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이상준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3581088"/>
            <a:ext cx="3635711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프로젝트를 진행하면서 협업의 방식, 데이터 Timing의 중요성, Metastability 원인 파악과 Debugging의 여러 방식을 배웠습니다.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Git으로 코드 협업 효율을 올리고 두 보드간 데이터 동기화 구현과 Analyzer를 통해 디버깅을 하며 기능 구현을 했을 때 많은 것에 성장했다고 생각하고 큰 성취감을 느꼈습니다.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90071" y="3544973"/>
            <a:ext cx="3365944" cy="5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설계를 진행하면서 BRAM 자원 사용량을 고려한 메모리 구조 설계의 중요성, 디버깅을 통해 CDC, VGA timing에 대해 많은 것을 배울 수 있었습니다.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협업하는 과정에서 코드 관리 방식과 모듈간 인터페이스를 명확히 정의하는 것이 중요하다는 것을 느꼈고, 이를 통해 디버깅과 유지보수가 훨씬 수월해진다는 것을 깨달았습니다.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1203" y="3687305"/>
            <a:ext cx="3475593" cy="51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문제가 생겼을 때, 해결하는 과정에서 서로 의견을 나누고, 성공하였을 때 큰 성취감과 즐거움을 느꼈습니다 . 협업을 하는 과정에서 소통의 중요성을 다시 배우게 되었습니다.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그동안 도와준 팀원들 모두 고마웠고 앞으로도 행복하게 잘 살았으면 좋겠습니다. 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47724" y="3687305"/>
            <a:ext cx="3365944" cy="438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SCCB를 설계를 하며 I2C 통신 프로토콜에 대해 부족했던 부분을 채울 수 있는 시간이 되었습니다.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또한, 협업을 하는 과정에서 서로 어떤 목표로 기능을 구현해야할 지 의논하고 진행상황을 공유하는 과정등을 통해서 소통의 중요성을 느꼈습니다.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5350" y="3917951"/>
            <a:ext cx="851730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1336</Words>
  <Application>Microsoft Office PowerPoint</Application>
  <PresentationFormat>사용자 지정</PresentationFormat>
  <Paragraphs>287</Paragraphs>
  <Slides>30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Cambria Math</vt:lpstr>
      <vt:lpstr>Arial</vt:lpstr>
      <vt:lpstr>각진펜 Bold</vt:lpstr>
      <vt:lpstr>Calibri</vt:lpstr>
      <vt:lpstr>Gotham Bold</vt:lpstr>
      <vt:lpstr>맑은 고딕</vt:lpstr>
      <vt:lpstr>각진펜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[SystemVerilog] VGA Tema Top Gun</dc:title>
  <cp:lastModifiedBy>kccistc</cp:lastModifiedBy>
  <cp:revision>9</cp:revision>
  <dcterms:created xsi:type="dcterms:W3CDTF">2006-08-16T00:00:00Z</dcterms:created>
  <dcterms:modified xsi:type="dcterms:W3CDTF">2025-12-05T06:40:49Z</dcterms:modified>
  <dc:identifier>DAG6WL5mzgc</dc:identifier>
</cp:coreProperties>
</file>